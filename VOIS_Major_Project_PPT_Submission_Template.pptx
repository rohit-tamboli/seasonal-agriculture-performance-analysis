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7" r:id="rId10"/>
    <p:sldId id="348"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5" d="100"/>
          <a:sy n="75" d="100"/>
        </p:scale>
        <p:origin x="248" y="29"/>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09/08/26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09/08/26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0403-9A97-EF16-0F42-C3282375C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C63C-E83F-A28F-2ED3-5AD614F04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9F497-4650-ABA6-F430-BFFBA93517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EE80F5-4EAF-C1A9-9BB8-C711AEFE8C75}"/>
              </a:ext>
            </a:extLst>
          </p:cNvPr>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1469651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09/08/26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09/08/26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09/08/26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09/08/26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09/08/26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09/08/26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ohit-tamboli/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3583914"/>
            <a:ext cx="4968487" cy="861497"/>
          </a:xfrm>
        </p:spPr>
        <p:txBody>
          <a:bodyPr vert="horz" lIns="91440" tIns="45720" rIns="91440" bIns="45720" rtlCol="0" anchor="t">
            <a:noAutofit/>
          </a:bodyPr>
          <a:lstStyle/>
          <a:p>
            <a:r>
              <a:rPr lang="en-US" dirty="0">
                <a:solidFill>
                  <a:schemeClr val="tx1"/>
                </a:solidFill>
              </a:rPr>
              <a:t>Rohit Tamboli</a:t>
            </a:r>
            <a:endParaRPr lang="en-IN" dirty="0">
              <a:solidFill>
                <a:schemeClr val="tx1"/>
              </a:solidFill>
            </a:endParaRPr>
          </a:p>
          <a:p>
            <a:r>
              <a:rPr lang="en-US" dirty="0">
                <a:solidFill>
                  <a:schemeClr val="tx1">
                    <a:lumMod val="95000"/>
                    <a:lumOff val="5000"/>
                  </a:schemeClr>
                </a:solidFill>
              </a:rPr>
              <a:t>Lakhmi Chand Institute of Technology</a:t>
            </a:r>
          </a:p>
          <a:p>
            <a:pPr algn="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664125" cy="743448"/>
          </a:xfrm>
        </p:spPr>
        <p:txBody>
          <a:bodyPr>
            <a:normAutofit fontScale="90000"/>
          </a:bodyPr>
          <a:lstStyle/>
          <a:p>
            <a:r>
              <a:rPr lang="en-GB" sz="3200" b="1" dirty="0"/>
              <a:t>Seasonal Agriculture Performance Analysis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538244"/>
            <a:ext cx="4495127" cy="646331"/>
          </a:xfrm>
          <a:prstGeom prst="rect">
            <a:avLst/>
          </a:prstGeom>
          <a:noFill/>
        </p:spPr>
        <p:txBody>
          <a:bodyPr wrap="square" rtlCol="0">
            <a:spAutoFit/>
          </a:bodyPr>
          <a:lstStyle/>
          <a:p>
            <a:r>
              <a:rPr lang="en-US" b="1" dirty="0"/>
              <a:t>AICTE STU ID : STU64d8e66ea92461691936366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79" y="1875556"/>
            <a:ext cx="7290365" cy="3607987"/>
          </a:xfrm>
        </p:spPr>
        <p:txBody>
          <a:bodyPr vert="horz" lIns="91440" tIns="45720" rIns="91440" bIns="45720" rtlCol="0" anchor="t">
            <a:noAutofit/>
          </a:bodyPr>
          <a:lstStyle/>
          <a:p>
            <a:pPr marL="0" indent="0" algn="just">
              <a:buNone/>
            </a:pPr>
            <a:r>
              <a:rPr lang="en-US" dirty="0">
                <a:solidFill>
                  <a:srgbClr val="191919"/>
                </a:solidFill>
                <a:latin typeface="Aptos"/>
              </a:rPr>
              <a:t>Agricultural performance varies with seasonal environmental conditions, farming practices, resource availability and economic conditions.
This project analyzes the supplied agricultural dataset to identify meaningful seasonal patterns in yield, production, revenue, profit, water use, water efficiency and environmental risk.
The goal is to develop evidence-based conclusions and practical recommendations for seasonal agricultural planning.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54DD20B1-7DD1-20F0-8C23-1D246873A05D}"/>
              </a:ext>
            </a:extLst>
          </p:cNvPr>
          <p:cNvSpPr>
            <a:spLocks noGrp="1"/>
          </p:cNvSpPr>
          <p:nvPr>
            <p:ph type="body" sz="quarter" idx="12"/>
          </p:nvPr>
        </p:nvSpPr>
        <p:spPr>
          <a:xfrm>
            <a:off x="1046480" y="1875556"/>
            <a:ext cx="7566942" cy="3607987"/>
          </a:xfrm>
        </p:spPr>
        <p:txBody>
          <a:bodyPr vert="horz" lIns="91440" tIns="45720" rIns="91440" bIns="45720" rtlCol="0" anchor="t">
            <a:noAutofit/>
          </a:bodyPr>
          <a:lstStyle/>
          <a:p>
            <a:pPr marL="0" indent="0" algn="just">
              <a:buNone/>
            </a:pPr>
            <a:r>
              <a:rPr lang="en-US" dirty="0">
                <a:solidFill>
                  <a:srgbClr val="191919"/>
                </a:solidFill>
                <a:latin typeface="Aptos"/>
              </a:rPr>
              <a:t>The project analyzes 4,000 farm-level agricultural records across seasons, locations, crops, environmental conditions, farming practices, production, costs, revenue, profit and resource usage.
The data is cleaned using season-wise median imputation for missing </a:t>
            </a:r>
            <a:r>
              <a:rPr lang="en-US" dirty="0" err="1">
                <a:solidFill>
                  <a:srgbClr val="191919"/>
                </a:solidFill>
                <a:latin typeface="Aptos"/>
              </a:rPr>
              <a:t>Rainfall_mm</a:t>
            </a:r>
            <a:r>
              <a:rPr lang="en-US" dirty="0">
                <a:solidFill>
                  <a:srgbClr val="191919"/>
                </a:solidFill>
                <a:latin typeface="Aptos"/>
              </a:rPr>
              <a:t>, </a:t>
            </a:r>
            <a:r>
              <a:rPr lang="en-US" dirty="0" err="1">
                <a:solidFill>
                  <a:srgbClr val="191919"/>
                </a:solidFill>
                <a:latin typeface="Aptos"/>
              </a:rPr>
              <a:t>Soil_Moisture_pct</a:t>
            </a:r>
            <a:r>
              <a:rPr lang="en-US" dirty="0">
                <a:solidFill>
                  <a:srgbClr val="191919"/>
                </a:solidFill>
                <a:latin typeface="Aptos"/>
              </a:rPr>
              <a:t> and </a:t>
            </a:r>
            <a:r>
              <a:rPr lang="en-US" dirty="0" err="1">
                <a:solidFill>
                  <a:srgbClr val="191919"/>
                </a:solidFill>
                <a:latin typeface="Aptos"/>
              </a:rPr>
              <a:t>Yield_Tonnes_Ha</a:t>
            </a:r>
            <a:r>
              <a:rPr lang="en-US" dirty="0">
                <a:solidFill>
                  <a:srgbClr val="191919"/>
                </a:solidFill>
                <a:latin typeface="Aptos"/>
              </a:rPr>
              <a:t> values. No rows are dropped, so all 4,000 records remain.
Exploratory and statistical analysis compares Kharif, Rabi and Zaid seasons, crops, irrigation methods and states using descriptive statistics, visualizations, correlation analysis and the Kruskal–Wallis test.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marL="0" indent="0" algn="just">
              <a:buNone/>
            </a:pPr>
            <a:r>
              <a:rPr lang="en-US" dirty="0">
                <a:solidFill>
                  <a:srgbClr val="191919"/>
                </a:solidFill>
                <a:latin typeface="Aptos"/>
              </a:rPr>
              <a:t>Primary End Users
• Farmers &amp; farm managers — support crop and season planning.
• Agricultural analysts — compare yield, profit and resource efficiency.
• Agribusiness planners — evaluate crop and irrigation performance.
• Policy &amp; extension teams — identify seasonal and regional patterns.
• Researchers &amp; students — study agricultural performance using data analytics.
The analysis is descriptive/statistical and does not provide causal or predictive guarantees.</a:t>
            </a:r>
          </a:p>
          <a:p>
            <a:pPr marL="0" indent="0" algn="just">
              <a:buNone/>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Autofit/>
          </a:bodyPr>
          <a:lstStyle/>
          <a:p>
            <a:pPr marL="457200" lvl="1" indent="0">
              <a:lnSpc>
                <a:spcPct val="150000"/>
              </a:lnSpc>
              <a:buNone/>
            </a:pPr>
            <a:r>
              <a:rPr lang="en-US" b="1" dirty="0">
                <a:solidFill>
                  <a:srgbClr val="191919"/>
                </a:solidFill>
                <a:latin typeface="Aptos"/>
              </a:rPr>
              <a:t>Python</a:t>
            </a:r>
            <a:r>
              <a:rPr lang="en-US" dirty="0">
                <a:solidFill>
                  <a:srgbClr val="191919"/>
                </a:solidFill>
                <a:latin typeface="Aptos"/>
              </a:rPr>
              <a:t>
• Pandas — data cleaning, grouping and aggregation
• NumPy — numerical analysis
• Matplotlib — charts and plots
• Seaborn — statistical visualizations and heatmaps
• SciPy — Kruskal–Wallis statistical testing
• Jupyter Notebook / Google </a:t>
            </a:r>
            <a:r>
              <a:rPr lang="en-US" dirty="0" err="1">
                <a:solidFill>
                  <a:srgbClr val="191919"/>
                </a:solidFill>
                <a:latin typeface="Aptos"/>
              </a:rPr>
              <a:t>Colab</a:t>
            </a:r>
            <a:r>
              <a:rPr lang="en-US" dirty="0">
                <a:solidFill>
                  <a:srgbClr val="191919"/>
                </a:solidFill>
                <a:latin typeface="Aptos"/>
              </a:rPr>
              <a:t> — analysis workflow</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49F7-7144-0492-A804-D2B6C929E21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1CB3E6-E9B8-2E45-7CF8-83120960968F}"/>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A1841F98-AE69-BFF1-D905-015BB9DC21D1}"/>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86778259-75B8-71FB-856E-2510BB258AB2}"/>
              </a:ext>
            </a:extLst>
          </p:cNvPr>
          <p:cNvSpPr>
            <a:spLocks noGrp="1"/>
          </p:cNvSpPr>
          <p:nvPr>
            <p:ph type="body" sz="quarter" idx="12"/>
          </p:nvPr>
        </p:nvSpPr>
        <p:spPr>
          <a:xfrm>
            <a:off x="390618" y="1432560"/>
            <a:ext cx="9027702" cy="5243448"/>
          </a:xfrm>
        </p:spPr>
        <p:txBody>
          <a:bodyPr>
            <a:noAutofit/>
          </a:bodyPr>
          <a:lstStyle/>
          <a:p>
            <a:pPr marL="457200" lvl="1" indent="0">
              <a:lnSpc>
                <a:spcPct val="150000"/>
              </a:lnSpc>
              <a:buNone/>
            </a:pPr>
            <a:r>
              <a:rPr lang="en-US" b="1" dirty="0">
                <a:solidFill>
                  <a:srgbClr val="191919"/>
                </a:solidFill>
                <a:latin typeface="Aptos"/>
              </a:rPr>
              <a:t>Dataset</a:t>
            </a:r>
            <a:r>
              <a:rPr lang="en-US" dirty="0">
                <a:solidFill>
                  <a:srgbClr val="191919"/>
                </a:solidFill>
                <a:latin typeface="Aptos"/>
              </a:rPr>
              <a:t>
• seasonal_agriculture_performance_dataset.csv
• 4,000 records
• 28 variables
• 3 seasons: Kharif, Rabi, Zaid
• 8 crops, 8 states and 4 irrigation methods</a:t>
            </a:r>
            <a:endParaRPr lang="en-IN" dirty="0"/>
          </a:p>
        </p:txBody>
      </p:sp>
      <p:sp>
        <p:nvSpPr>
          <p:cNvPr id="9" name="Title 8">
            <a:extLst>
              <a:ext uri="{FF2B5EF4-FFF2-40B4-BE49-F238E27FC236}">
                <a16:creationId xmlns:a16="http://schemas.microsoft.com/office/drawing/2014/main" id="{0E13DE78-DAB9-A911-AEA0-629626501949}"/>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244445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685800" y="1143000"/>
            <a:ext cx="4114800" cy="411480"/>
          </a:xfrm>
          <a:prstGeom prst="rect">
            <a:avLst/>
          </a:prstGeom>
          <a:noFill/>
        </p:spPr>
        <p:txBody>
          <a:bodyPr wrap="square">
            <a:spAutoFit/>
          </a:bodyPr>
          <a:lstStyle/>
          <a:p>
            <a:pPr algn="l"/>
            <a:r>
              <a:rPr sz="2200" b="1">
                <a:solidFill>
                  <a:srgbClr val="191919"/>
                </a:solidFill>
                <a:latin typeface="Aptos"/>
              </a:rPr>
              <a:t>Seasonal Performance</a:t>
            </a:r>
          </a:p>
        </p:txBody>
      </p:sp>
      <p:pic>
        <p:nvPicPr>
          <p:cNvPr id="32" name="Picture 31" descr="cell29_0.png"/>
          <p:cNvPicPr>
            <a:picLocks noChangeAspect="1"/>
          </p:cNvPicPr>
          <p:nvPr/>
        </p:nvPicPr>
        <p:blipFill>
          <a:blip r:embed="rId3"/>
          <a:stretch>
            <a:fillRect/>
          </a:stretch>
        </p:blipFill>
        <p:spPr>
          <a:xfrm>
            <a:off x="548640" y="1737360"/>
            <a:ext cx="3474720" cy="2331720"/>
          </a:xfrm>
          <a:prstGeom prst="rect">
            <a:avLst/>
          </a:prstGeom>
        </p:spPr>
      </p:pic>
      <p:pic>
        <p:nvPicPr>
          <p:cNvPr id="33" name="Picture 32" descr="cell32_0.png"/>
          <p:cNvPicPr>
            <a:picLocks noChangeAspect="1"/>
          </p:cNvPicPr>
          <p:nvPr/>
        </p:nvPicPr>
        <p:blipFill>
          <a:blip r:embed="rId4"/>
          <a:stretch>
            <a:fillRect/>
          </a:stretch>
        </p:blipFill>
        <p:spPr>
          <a:xfrm>
            <a:off x="4160520" y="1737360"/>
            <a:ext cx="3474720" cy="2331720"/>
          </a:xfrm>
          <a:prstGeom prst="rect">
            <a:avLst/>
          </a:prstGeom>
        </p:spPr>
      </p:pic>
      <p:sp>
        <p:nvSpPr>
          <p:cNvPr id="34" name="TextBox 33"/>
          <p:cNvSpPr txBox="1"/>
          <p:nvPr/>
        </p:nvSpPr>
        <p:spPr>
          <a:xfrm>
            <a:off x="640080" y="4251960"/>
            <a:ext cx="7772400" cy="1645920"/>
          </a:xfrm>
          <a:prstGeom prst="rect">
            <a:avLst/>
          </a:prstGeom>
          <a:noFill/>
        </p:spPr>
        <p:txBody>
          <a:bodyPr wrap="square">
            <a:spAutoFit/>
          </a:bodyPr>
          <a:lstStyle/>
          <a:p>
            <a:pPr algn="l"/>
            <a:r>
              <a:rPr sz="1400" b="0" dirty="0">
                <a:solidFill>
                  <a:srgbClr val="191919"/>
                </a:solidFill>
                <a:latin typeface="Aptos"/>
              </a:rPr>
              <a:t>Kharif: 5.64 t/ha yield, INR 178,915 average profit, 57.79% profitable.
Rabi: 5.08 t/ha yield, INR 87,689 average profit, 48.86% profitable.
Zaid: 4.67 t/ha yield, INR -24,805 average profit, 35.52% profitable.
Kharif has the strongest overall performance, while Zaid is the weakest economically.</a:t>
            </a:r>
          </a:p>
        </p:txBody>
      </p:sp>
    </p:spTree>
    <p:extLst>
      <p:ext uri="{BB962C8B-B14F-4D97-AF65-F5344CB8AC3E}">
        <p14:creationId xmlns:p14="http://schemas.microsoft.com/office/powerpoint/2010/main" val="257772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685800" y="1143000"/>
            <a:ext cx="5486400" cy="411480"/>
          </a:xfrm>
          <a:prstGeom prst="rect">
            <a:avLst/>
          </a:prstGeom>
          <a:noFill/>
        </p:spPr>
        <p:txBody>
          <a:bodyPr wrap="square">
            <a:spAutoFit/>
          </a:bodyPr>
          <a:lstStyle/>
          <a:p>
            <a:pPr algn="l"/>
            <a:r>
              <a:rPr sz="2200" b="1">
                <a:solidFill>
                  <a:srgbClr val="191919"/>
                </a:solidFill>
                <a:latin typeface="Aptos"/>
              </a:rPr>
              <a:t>Environmental &amp; Crop Performance</a:t>
            </a:r>
          </a:p>
        </p:txBody>
      </p:sp>
      <p:pic>
        <p:nvPicPr>
          <p:cNvPr id="32" name="Picture 31" descr="cell39_0.png"/>
          <p:cNvPicPr>
            <a:picLocks noChangeAspect="1"/>
          </p:cNvPicPr>
          <p:nvPr/>
        </p:nvPicPr>
        <p:blipFill>
          <a:blip r:embed="rId3"/>
          <a:stretch>
            <a:fillRect/>
          </a:stretch>
        </p:blipFill>
        <p:spPr>
          <a:xfrm>
            <a:off x="502920" y="1691640"/>
            <a:ext cx="3520440" cy="2331720"/>
          </a:xfrm>
          <a:prstGeom prst="rect">
            <a:avLst/>
          </a:prstGeom>
        </p:spPr>
      </p:pic>
      <p:pic>
        <p:nvPicPr>
          <p:cNvPr id="33" name="Picture 32" descr="cell44_0.png"/>
          <p:cNvPicPr>
            <a:picLocks noChangeAspect="1"/>
          </p:cNvPicPr>
          <p:nvPr/>
        </p:nvPicPr>
        <p:blipFill>
          <a:blip r:embed="rId4"/>
          <a:stretch>
            <a:fillRect/>
          </a:stretch>
        </p:blipFill>
        <p:spPr>
          <a:xfrm>
            <a:off x="4160520" y="1691640"/>
            <a:ext cx="3520440" cy="2331720"/>
          </a:xfrm>
          <a:prstGeom prst="rect">
            <a:avLst/>
          </a:prstGeom>
        </p:spPr>
      </p:pic>
      <p:sp>
        <p:nvSpPr>
          <p:cNvPr id="34" name="TextBox 33"/>
          <p:cNvSpPr txBox="1"/>
          <p:nvPr/>
        </p:nvSpPr>
        <p:spPr>
          <a:xfrm>
            <a:off x="594360" y="4251960"/>
            <a:ext cx="7818120" cy="1645920"/>
          </a:xfrm>
          <a:prstGeom prst="rect">
            <a:avLst/>
          </a:prstGeom>
          <a:noFill/>
        </p:spPr>
        <p:txBody>
          <a:bodyPr wrap="square">
            <a:spAutoFit/>
          </a:bodyPr>
          <a:lstStyle/>
          <a:p>
            <a:pPr algn="l"/>
            <a:r>
              <a:rPr sz="1300" b="0">
                <a:solidFill>
                  <a:srgbClr val="191919"/>
                </a:solidFill>
                <a:latin typeface="Aptos"/>
              </a:rPr>
              <a:t>Environmental profile: Kharif has the highest rainfall (852.11 mm), humidity (71.81%) and disease/pest risk (54.47%). Zaid is hottest (31.04°C) and driest (299.12 mm rainfall).
Crop profitability: Sugarcane (INR 817,188) and Chilli (INR 750,878) have the highest average profits. Wheat, rice and maize have negative average profits.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685800" y="1143000"/>
            <a:ext cx="5486400" cy="411480"/>
          </a:xfrm>
          <a:prstGeom prst="rect">
            <a:avLst/>
          </a:prstGeom>
          <a:noFill/>
        </p:spPr>
        <p:txBody>
          <a:bodyPr wrap="square">
            <a:spAutoFit/>
          </a:bodyPr>
          <a:lstStyle/>
          <a:p>
            <a:pPr algn="l"/>
            <a:r>
              <a:rPr sz="2200" b="1">
                <a:solidFill>
                  <a:srgbClr val="191919"/>
                </a:solidFill>
                <a:latin typeface="Aptos"/>
              </a:rPr>
              <a:t>Irrigation &amp; Resource Efficiency</a:t>
            </a:r>
          </a:p>
        </p:txBody>
      </p:sp>
      <p:pic>
        <p:nvPicPr>
          <p:cNvPr id="32" name="Picture 31" descr="cell49_0.png"/>
          <p:cNvPicPr>
            <a:picLocks noChangeAspect="1"/>
          </p:cNvPicPr>
          <p:nvPr/>
        </p:nvPicPr>
        <p:blipFill>
          <a:blip r:embed="rId3"/>
          <a:stretch>
            <a:fillRect/>
          </a:stretch>
        </p:blipFill>
        <p:spPr>
          <a:xfrm>
            <a:off x="594360" y="1737360"/>
            <a:ext cx="3657600" cy="2423160"/>
          </a:xfrm>
          <a:prstGeom prst="rect">
            <a:avLst/>
          </a:prstGeom>
        </p:spPr>
      </p:pic>
      <p:sp>
        <p:nvSpPr>
          <p:cNvPr id="33" name="TextBox 32"/>
          <p:cNvSpPr txBox="1"/>
          <p:nvPr/>
        </p:nvSpPr>
        <p:spPr>
          <a:xfrm>
            <a:off x="4434840" y="1828800"/>
            <a:ext cx="3474720" cy="3108960"/>
          </a:xfrm>
          <a:prstGeom prst="rect">
            <a:avLst/>
          </a:prstGeom>
          <a:noFill/>
        </p:spPr>
        <p:txBody>
          <a:bodyPr wrap="square">
            <a:spAutoFit/>
          </a:bodyPr>
          <a:lstStyle/>
          <a:p>
            <a:pPr algn="l"/>
            <a:r>
              <a:rPr sz="1600" b="0">
                <a:solidFill>
                  <a:srgbClr val="191919"/>
                </a:solidFill>
                <a:latin typeface="Aptos"/>
              </a:rPr>
              <a:t>Drip irrigation has the highest average yield (6.58 t/ha) and average profit (INR 219,626).
Rainfed has the highest average water-efficiency ratio (7.56 tonnes per 1,000 m³), while Flood has the lowest (3.44).
These are descriptive associations; crop, farm size and season differ across irrigation groups.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685800" y="1143000"/>
            <a:ext cx="5486400" cy="411480"/>
          </a:xfrm>
          <a:prstGeom prst="rect">
            <a:avLst/>
          </a:prstGeom>
          <a:noFill/>
        </p:spPr>
        <p:txBody>
          <a:bodyPr wrap="square">
            <a:spAutoFit/>
          </a:bodyPr>
          <a:lstStyle/>
          <a:p>
            <a:pPr algn="l"/>
            <a:r>
              <a:rPr sz="2200" b="1">
                <a:solidFill>
                  <a:srgbClr val="191919"/>
                </a:solidFill>
                <a:latin typeface="Aptos"/>
              </a:rPr>
              <a:t>Relationships Between Variables</a:t>
            </a:r>
          </a:p>
        </p:txBody>
      </p:sp>
      <p:pic>
        <p:nvPicPr>
          <p:cNvPr id="32" name="Picture 31" descr="cell52_0.png"/>
          <p:cNvPicPr>
            <a:picLocks noChangeAspect="1"/>
          </p:cNvPicPr>
          <p:nvPr/>
        </p:nvPicPr>
        <p:blipFill>
          <a:blip r:embed="rId3"/>
          <a:stretch>
            <a:fillRect/>
          </a:stretch>
        </p:blipFill>
        <p:spPr>
          <a:xfrm>
            <a:off x="502920" y="1691640"/>
            <a:ext cx="3657600" cy="2514600"/>
          </a:xfrm>
          <a:prstGeom prst="rect">
            <a:avLst/>
          </a:prstGeom>
        </p:spPr>
      </p:pic>
      <p:pic>
        <p:nvPicPr>
          <p:cNvPr id="33" name="Picture 32" descr="cell55_0.png"/>
          <p:cNvPicPr>
            <a:picLocks noChangeAspect="1"/>
          </p:cNvPicPr>
          <p:nvPr/>
        </p:nvPicPr>
        <p:blipFill>
          <a:blip r:embed="rId4"/>
          <a:stretch>
            <a:fillRect/>
          </a:stretch>
        </p:blipFill>
        <p:spPr>
          <a:xfrm>
            <a:off x="4343400" y="1691640"/>
            <a:ext cx="3429000" cy="2514600"/>
          </a:xfrm>
          <a:prstGeom prst="rect">
            <a:avLst/>
          </a:prstGeom>
        </p:spPr>
      </p:pic>
      <p:sp>
        <p:nvSpPr>
          <p:cNvPr id="34" name="TextBox 33"/>
          <p:cNvSpPr txBox="1"/>
          <p:nvPr/>
        </p:nvSpPr>
        <p:spPr>
          <a:xfrm>
            <a:off x="594360" y="4343400"/>
            <a:ext cx="7772400" cy="1417320"/>
          </a:xfrm>
          <a:prstGeom prst="rect">
            <a:avLst/>
          </a:prstGeom>
          <a:noFill/>
        </p:spPr>
        <p:txBody>
          <a:bodyPr wrap="square">
            <a:spAutoFit/>
          </a:bodyPr>
          <a:lstStyle/>
          <a:p>
            <a:pPr algn="l"/>
            <a:r>
              <a:rPr sz="1300" b="0">
                <a:solidFill>
                  <a:srgbClr val="191919"/>
                </a:solidFill>
                <a:latin typeface="Aptos"/>
              </a:rPr>
              <a:t>Yield is strongly correlated with production (r = 0.88) and water efficiency (r = 0.91). Profit is strongly correlated with revenue (r = 0.89) and moderately with yield (r = 0.49).
Production generally rises with yield, but farm area also affects total production. Correlation indicates association, not causation.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685800" y="1143000"/>
            <a:ext cx="6400800" cy="411480"/>
          </a:xfrm>
          <a:prstGeom prst="rect">
            <a:avLst/>
          </a:prstGeom>
          <a:noFill/>
        </p:spPr>
        <p:txBody>
          <a:bodyPr wrap="square">
            <a:spAutoFit/>
          </a:bodyPr>
          <a:lstStyle/>
          <a:p>
            <a:pPr algn="l"/>
            <a:r>
              <a:rPr sz="2200" b="1">
                <a:solidFill>
                  <a:srgbClr val="191919"/>
                </a:solidFill>
                <a:latin typeface="Aptos"/>
              </a:rPr>
              <a:t>Regional Consistency &amp; Statistical Testing</a:t>
            </a:r>
          </a:p>
        </p:txBody>
      </p:sp>
      <p:pic>
        <p:nvPicPr>
          <p:cNvPr id="32" name="Picture 31" descr="cell58_0.png"/>
          <p:cNvPicPr>
            <a:picLocks noChangeAspect="1"/>
          </p:cNvPicPr>
          <p:nvPr/>
        </p:nvPicPr>
        <p:blipFill>
          <a:blip r:embed="rId3"/>
          <a:stretch>
            <a:fillRect/>
          </a:stretch>
        </p:blipFill>
        <p:spPr>
          <a:xfrm>
            <a:off x="502920" y="1691640"/>
            <a:ext cx="3657600" cy="2606040"/>
          </a:xfrm>
          <a:prstGeom prst="rect">
            <a:avLst/>
          </a:prstGeom>
        </p:spPr>
      </p:pic>
      <p:sp>
        <p:nvSpPr>
          <p:cNvPr id="33" name="TextBox 32"/>
          <p:cNvSpPr txBox="1"/>
          <p:nvPr/>
        </p:nvSpPr>
        <p:spPr>
          <a:xfrm>
            <a:off x="4343400" y="1737360"/>
            <a:ext cx="3429000" cy="3566160"/>
          </a:xfrm>
          <a:prstGeom prst="rect">
            <a:avLst/>
          </a:prstGeom>
          <a:noFill/>
        </p:spPr>
        <p:txBody>
          <a:bodyPr wrap="square">
            <a:spAutoFit/>
          </a:bodyPr>
          <a:lstStyle/>
          <a:p>
            <a:pPr algn="l"/>
            <a:r>
              <a:rPr sz="1400" b="0">
                <a:solidFill>
                  <a:srgbClr val="191919"/>
                </a:solidFill>
                <a:latin typeface="Aptos"/>
              </a:rPr>
              <a:t>The state × season profit heatmap shows that the broad Kharif advantage appears in many states, but regional differences and exceptions are visible.
Kruskal–Wallis testing at the 5% significance level found statistically significant seasonal differences for yield, profit, revenue, water efficiency, rainfall, temperature, humidity and disease/pest risk. Water use was borderline.
Statistical significance should be considered alongside effect size and practical importance.</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6094A13-4560-C784-1EEA-2484BAFF50D1}"/>
              </a:ext>
            </a:extLst>
          </p:cNvPr>
          <p:cNvSpPr txBox="1"/>
          <p:nvPr/>
        </p:nvSpPr>
        <p:spPr>
          <a:xfrm>
            <a:off x="731520" y="1417320"/>
            <a:ext cx="7680960" cy="3785652"/>
          </a:xfrm>
          <a:prstGeom prst="rect">
            <a:avLst/>
          </a:prstGeom>
          <a:noFill/>
        </p:spPr>
        <p:txBody>
          <a:bodyPr wrap="square">
            <a:spAutoFit/>
          </a:bodyPr>
          <a:lstStyle/>
          <a:p>
            <a:pPr algn="l"/>
            <a:r>
              <a:rPr sz="2000" b="0" dirty="0">
                <a:solidFill>
                  <a:srgbClr val="191919"/>
                </a:solidFill>
                <a:latin typeface="Aptos"/>
              </a:rPr>
              <a:t>• Build predictive models for yield and profit.
• Develop an interactive dashboard for season, crop, state and irrigation comparisons.
• Add more years and external weather/market data.
• Perform causal or controlled analysis of irrigation and crop choices.
• Add crop-specific and region-specific optimization.
• Monitor seasonal risk indicators for decision support.
Current project scope: descriptive and statistical data analytics; no predictive ML model or dashboard is included in the supplied notebook.</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2EEE2657-4EC4-6B5B-1A99-34BE69A37C04}"/>
              </a:ext>
            </a:extLst>
          </p:cNvPr>
          <p:cNvSpPr txBox="1"/>
          <p:nvPr/>
        </p:nvSpPr>
        <p:spPr>
          <a:xfrm>
            <a:off x="731520" y="1554480"/>
            <a:ext cx="7589520" cy="769441"/>
          </a:xfrm>
          <a:prstGeom prst="rect">
            <a:avLst/>
          </a:prstGeom>
          <a:noFill/>
        </p:spPr>
        <p:txBody>
          <a:bodyPr wrap="square">
            <a:spAutoFit/>
          </a:bodyPr>
          <a:lstStyle/>
          <a:p>
            <a:r>
              <a:rPr lang="en-US" sz="2200" u="sng" dirty="0">
                <a:solidFill>
                  <a:srgbClr val="191919"/>
                </a:solidFill>
                <a:latin typeface="Aptos"/>
                <a:hlinkClick r:id="rId3"/>
              </a:rPr>
              <a:t>https://github.com/rohit-tamboli/Seasonal-Agriculture-Performance-Analysis.git</a:t>
            </a:r>
            <a:endParaRPr sz="2200" u="sng" dirty="0">
              <a:solidFill>
                <a:srgbClr val="191919"/>
              </a:solidFill>
              <a:latin typeface="Aptos"/>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C2F5F77-E211-89C2-2095-03FB21C80E70}"/>
              </a:ext>
            </a:extLst>
          </p:cNvPr>
          <p:cNvPicPr>
            <a:picLocks noChangeAspect="1"/>
          </p:cNvPicPr>
          <p:nvPr/>
        </p:nvPicPr>
        <p:blipFill>
          <a:blip r:embed="rId3"/>
          <a:srcRect l="672" t="1292" r="672" b="674"/>
          <a:stretch>
            <a:fillRect/>
          </a:stretch>
        </p:blipFill>
        <p:spPr>
          <a:xfrm>
            <a:off x="798056" y="1583603"/>
            <a:ext cx="6257500" cy="441079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865711" y="2895427"/>
            <a:ext cx="6155778" cy="459664"/>
          </a:xfrm>
          <a:prstGeom prst="rect">
            <a:avLst/>
          </a:prstGeom>
        </p:spPr>
        <p:txBody>
          <a:bodyPr anchor="ctr">
            <a:noAutofit/>
          </a:bodyPr>
          <a:lstStyle/>
          <a:p>
            <a:pPr algn="ctr"/>
            <a:r>
              <a:rPr lang="en-US" sz="4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Box 3">
            <a:extLst>
              <a:ext uri="{FF2B5EF4-FFF2-40B4-BE49-F238E27FC236}">
                <a16:creationId xmlns:a16="http://schemas.microsoft.com/office/drawing/2014/main" id="{4D3E2B35-AE02-4CCB-75A7-7A45D4D548DD}"/>
              </a:ext>
            </a:extLst>
          </p:cNvPr>
          <p:cNvSpPr txBox="1"/>
          <p:nvPr/>
        </p:nvSpPr>
        <p:spPr>
          <a:xfrm>
            <a:off x="2743200" y="2377440"/>
            <a:ext cx="6400800" cy="457200"/>
          </a:xfrm>
          <a:prstGeom prst="rect">
            <a:avLst/>
          </a:prstGeom>
          <a:noFill/>
        </p:spPr>
        <p:txBody>
          <a:bodyPr wrap="square">
            <a:spAutoFit/>
          </a:bodyPr>
          <a:lstStyle/>
          <a:p>
            <a:pPr algn="ctr"/>
            <a:r>
              <a:rPr sz="2200" b="1" dirty="0">
                <a:solidFill>
                  <a:srgbClr val="191919"/>
                </a:solidFill>
                <a:latin typeface="Aptos"/>
              </a:rPr>
              <a:t>Seasonal Agriculture Performance 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605</TotalTime>
  <Words>876</Words>
  <Application>Microsoft Office PowerPoint</Application>
  <PresentationFormat>Widescreen</PresentationFormat>
  <Paragraphs>40</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Rohit Tamboli</cp:lastModifiedBy>
  <cp:revision>103</cp:revision>
  <dcterms:created xsi:type="dcterms:W3CDTF">2021-07-11T13:13:15Z</dcterms:created>
  <dcterms:modified xsi:type="dcterms:W3CDTF">2026-09-08T06:43:02Z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